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75" r:id="rId1"/>
  </p:sldMasterIdLst>
  <p:notesMasterIdLst>
    <p:notesMasterId r:id="rId20"/>
  </p:notesMasterIdLst>
  <p:sldIdLst>
    <p:sldId id="256" r:id="rId2"/>
    <p:sldId id="257" r:id="rId3"/>
    <p:sldId id="258" r:id="rId4"/>
    <p:sldId id="272" r:id="rId5"/>
    <p:sldId id="260" r:id="rId6"/>
    <p:sldId id="261" r:id="rId7"/>
    <p:sldId id="262" r:id="rId8"/>
    <p:sldId id="263" r:id="rId9"/>
    <p:sldId id="275" r:id="rId10"/>
    <p:sldId id="264" r:id="rId11"/>
    <p:sldId id="265" r:id="rId12"/>
    <p:sldId id="266" r:id="rId13"/>
    <p:sldId id="267" r:id="rId14"/>
    <p:sldId id="268" r:id="rId15"/>
    <p:sldId id="269" r:id="rId16"/>
    <p:sldId id="276" r:id="rId17"/>
    <p:sldId id="273" r:id="rId18"/>
    <p:sldId id="271" r:id="rId19"/>
  </p:sldIdLst>
  <p:sldSz cx="12192000" cy="6858000"/>
  <p:notesSz cx="6858000" cy="9144000"/>
  <p:embeddedFontLst>
    <p:embeddedFont>
      <p:font typeface="Abadi" panose="020B0604020104020204" pitchFamily="34" charset="0"/>
      <p:regular r:id="rId21"/>
      <p:bold r:id="rId22"/>
      <p:italic r:id="rId23"/>
      <p:boldItalic r:id="rId24"/>
    </p:embeddedFont>
    <p:embeddedFont>
      <p:font typeface="Century Gothic" panose="020B050202020202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67BD"/>
    <a:srgbClr val="D62728"/>
    <a:srgbClr val="40A840"/>
    <a:srgbClr val="FF7F0D"/>
    <a:srgbClr val="1E77B4"/>
    <a:srgbClr val="406B23"/>
    <a:srgbClr val="63A537"/>
    <a:srgbClr val="89814E"/>
    <a:srgbClr val="E7E3EA"/>
    <a:srgbClr val="FFFF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fr-F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01432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296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3166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61721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6482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8729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43942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8501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9839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71970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113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972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99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Aliments naturels, produits, Nourriture complète, Groupe d’aliments&#10;&#10;Le contenu généré par l’IA peut être incorrect.">
            <a:extLst>
              <a:ext uri="{FF2B5EF4-FFF2-40B4-BE49-F238E27FC236}">
                <a16:creationId xmlns:a16="http://schemas.microsoft.com/office/drawing/2014/main" id="{B83149F2-B132-DF87-CB7B-AF9920B8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6" b="16000"/>
          <a:stretch>
            <a:fillRect/>
          </a:stretch>
        </p:blipFill>
        <p:spPr>
          <a:xfrm>
            <a:off x="-2136" y="1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54EFCB5-2079-63FB-D7C2-3F3827FC3FE8}"/>
              </a:ext>
            </a:extLst>
          </p:cNvPr>
          <p:cNvSpPr/>
          <p:nvPr/>
        </p:nvSpPr>
        <p:spPr>
          <a:xfrm>
            <a:off x="656127" y="4834459"/>
            <a:ext cx="10875474" cy="16764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0" y="4960486"/>
            <a:ext cx="12192000" cy="832098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b="1" dirty="0">
                <a:solidFill>
                  <a:schemeClr val="tx1"/>
                </a:solidFill>
                <a:latin typeface="Abadi" panose="020F0502020204030204" pitchFamily="34" charset="0"/>
              </a:rPr>
              <a:t>Étude sur l’alimentation dans le monde</a:t>
            </a:r>
            <a:endParaRPr lang="fr-FR" b="1" dirty="0">
              <a:solidFill>
                <a:schemeClr val="tx1"/>
              </a:solidFill>
              <a:latin typeface="Abadi" panose="020F0502020204030204" pitchFamily="34" charset="0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0" y="5885711"/>
            <a:ext cx="12192001" cy="413486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>
                <a:solidFill>
                  <a:schemeClr val="tx1"/>
                </a:solidFill>
                <a:latin typeface="Abadi" panose="020F0502020204030204" pitchFamily="34" charset="0"/>
              </a:rPr>
              <a:t>ARNAUD MELOEN</a:t>
            </a:r>
            <a:endParaRPr lang="fr-FR" dirty="0">
              <a:solidFill>
                <a:schemeClr val="tx1"/>
              </a:solidFill>
              <a:latin typeface="Abad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b="1" dirty="0"/>
              <a:t>Contexte et spécification des données</a:t>
            </a:r>
            <a:endParaRPr sz="3200" b="1" dirty="0"/>
          </a:p>
        </p:txBody>
      </p:sp>
      <p:sp>
        <p:nvSpPr>
          <p:cNvPr id="131" name="Google Shape;131;p2"/>
          <p:cNvSpPr txBox="1">
            <a:spLocks noGrp="1"/>
          </p:cNvSpPr>
          <p:nvPr>
            <p:ph sz="half" idx="1"/>
          </p:nvPr>
        </p:nvSpPr>
        <p:spPr>
          <a:xfrm>
            <a:off x="6196127" y="2074495"/>
            <a:ext cx="5185873" cy="1450758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b="1" dirty="0"/>
              <a:t>	Étu</a:t>
            </a:r>
            <a:r>
              <a:rPr lang="fr-FR" b="1" dirty="0">
                <a:effectLst/>
              </a:rPr>
              <a:t>de de grande ampleur</a:t>
            </a:r>
            <a:r>
              <a:rPr lang="fr-FR" b="0" dirty="0">
                <a:effectLst/>
              </a:rPr>
              <a:t> sur le thème de l’alimentation et plus particulièrement sur la sous nutrition dans le monde.</a:t>
            </a:r>
            <a:endParaRPr dirty="0"/>
          </a:p>
        </p:txBody>
      </p:sp>
      <p:pic>
        <p:nvPicPr>
          <p:cNvPr id="1026" name="Picture 2" descr="Logo de la FAO">
            <a:extLst>
              <a:ext uri="{FF2B5EF4-FFF2-40B4-BE49-F238E27FC236}">
                <a16:creationId xmlns:a16="http://schemas.microsoft.com/office/drawing/2014/main" id="{0222C52C-5D4F-D5D9-21BB-66F9426F4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01" y="1857676"/>
            <a:ext cx="5185874" cy="209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78C3DD6-ECC4-DD28-0AF1-B9B7FF68C184}"/>
              </a:ext>
            </a:extLst>
          </p:cNvPr>
          <p:cNvSpPr txBox="1"/>
          <p:nvPr/>
        </p:nvSpPr>
        <p:spPr>
          <a:xfrm>
            <a:off x="1311442" y="4102768"/>
            <a:ext cx="85303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800"/>
            </a:pPr>
            <a:r>
              <a:rPr lang="fr-FR" b="1" dirty="0"/>
              <a:t>Les données :	</a:t>
            </a:r>
          </a:p>
          <a:p>
            <a:pPr marL="2114550" lvl="4" indent="-285750">
              <a:buSzPts val="1800"/>
              <a:buFont typeface="Arial" panose="020B0604020202020204" pitchFamily="34" charset="0"/>
              <a:buChar char="•"/>
            </a:pPr>
            <a:r>
              <a:rPr lang="fr-FR" dirty="0"/>
              <a:t>Aide alimentaire</a:t>
            </a:r>
          </a:p>
          <a:p>
            <a:pPr marL="2114550" lvl="4" indent="-285750">
              <a:buSzPts val="1800"/>
              <a:buFont typeface="Arial" panose="020B0604020202020204" pitchFamily="34" charset="0"/>
              <a:buChar char="•"/>
            </a:pPr>
            <a:r>
              <a:rPr lang="fr-FR" dirty="0"/>
              <a:t>Disponibilité alimentaire</a:t>
            </a:r>
          </a:p>
          <a:p>
            <a:pPr marL="2114550" lvl="4" indent="-285750">
              <a:buSzPts val="1800"/>
              <a:buFont typeface="Arial" panose="020B0604020202020204" pitchFamily="34" charset="0"/>
              <a:buChar char="•"/>
            </a:pPr>
            <a:r>
              <a:rPr lang="fr-FR" dirty="0"/>
              <a:t>Population</a:t>
            </a:r>
          </a:p>
          <a:p>
            <a:pPr marL="2114550" lvl="4" indent="-285750">
              <a:buSzPts val="1800"/>
              <a:buFont typeface="Arial" panose="020B0604020202020204" pitchFamily="34" charset="0"/>
              <a:buChar char="•"/>
            </a:pPr>
            <a:r>
              <a:rPr lang="fr-FR" dirty="0"/>
              <a:t>Sous-nutrition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 idx="4294967295"/>
          </p:nvPr>
        </p:nvSpPr>
        <p:spPr>
          <a:xfrm>
            <a:off x="1066800" y="670064"/>
            <a:ext cx="10058400" cy="309562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FEFEFE"/>
              </a:buClr>
              <a:buSzPts val="4000"/>
              <a:buFont typeface="Century Gothic"/>
            </a:pPr>
            <a:r>
              <a:rPr lang="fr-FR" sz="3200" b="1" u="sng" dirty="0"/>
              <a:t>Méthodologie de l’analyse</a:t>
            </a:r>
            <a:endParaRPr sz="3200" b="1" u="sng" dirty="0"/>
          </a:p>
        </p:txBody>
      </p:sp>
      <p:sp>
        <p:nvSpPr>
          <p:cNvPr id="2" name="Google Shape;138;p3">
            <a:extLst>
              <a:ext uri="{FF2B5EF4-FFF2-40B4-BE49-F238E27FC236}">
                <a16:creationId xmlns:a16="http://schemas.microsoft.com/office/drawing/2014/main" id="{68E2CF43-85B8-D954-513F-34598FB192DE}"/>
              </a:ext>
            </a:extLst>
          </p:cNvPr>
          <p:cNvSpPr txBox="1">
            <a:spLocks/>
          </p:cNvSpPr>
          <p:nvPr/>
        </p:nvSpPr>
        <p:spPr>
          <a:xfrm>
            <a:off x="570626" y="1417981"/>
            <a:ext cx="10554574" cy="4393096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None/>
            </a:pPr>
            <a:r>
              <a:rPr lang="fr-FR" dirty="0"/>
              <a:t>1. </a:t>
            </a:r>
            <a:r>
              <a:rPr lang="fr-FR" u="sng" dirty="0"/>
              <a:t>Découverte des données</a:t>
            </a:r>
          </a:p>
          <a:p>
            <a:pPr marL="406908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None/>
            </a:pPr>
            <a:r>
              <a:rPr lang="fr-FR" sz="2000" dirty="0"/>
              <a:t>				Lecture du cahier des charges</a:t>
            </a:r>
          </a:p>
          <a:p>
            <a:pPr marL="406908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None/>
            </a:pPr>
            <a:r>
              <a:rPr lang="fr-FR" sz="2000" dirty="0"/>
              <a:t>				Étude du contexte</a:t>
            </a:r>
          </a:p>
          <a:p>
            <a:pPr marL="406908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None/>
            </a:pPr>
            <a:endParaRPr lang="fr-FR" sz="2000" dirty="0"/>
          </a:p>
          <a:p>
            <a:pPr marL="1143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None/>
            </a:pPr>
            <a:r>
              <a:rPr lang="fr-FR" dirty="0"/>
              <a:t>2. </a:t>
            </a:r>
            <a:r>
              <a:rPr lang="fr-FR" u="sng" dirty="0"/>
              <a:t>Nettoyage des données</a:t>
            </a:r>
          </a:p>
          <a:p>
            <a:pPr marL="1143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None/>
            </a:pPr>
            <a:r>
              <a:rPr lang="fr-FR" dirty="0"/>
              <a:t>				Correction des valeurs nulles</a:t>
            </a:r>
          </a:p>
          <a:p>
            <a:pPr marL="1143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None/>
            </a:pPr>
            <a:r>
              <a:rPr lang="fr-FR" dirty="0"/>
              <a:t>				Standardisation des unités</a:t>
            </a:r>
          </a:p>
          <a:p>
            <a:pPr marL="1143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None/>
            </a:pPr>
            <a:endParaRPr lang="fr-FR" dirty="0"/>
          </a:p>
          <a:p>
            <a:pPr marL="1143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None/>
            </a:pPr>
            <a:r>
              <a:rPr lang="fr-FR" dirty="0"/>
              <a:t>3. </a:t>
            </a:r>
            <a:r>
              <a:rPr lang="fr-FR" u="sng" dirty="0"/>
              <a:t>Analyse des données</a:t>
            </a:r>
          </a:p>
          <a:p>
            <a:pPr marL="1143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None/>
            </a:pPr>
            <a:r>
              <a:rPr lang="fr-FR" dirty="0"/>
              <a:t>				Création d’indicateurs</a:t>
            </a:r>
          </a:p>
          <a:p>
            <a:pPr marL="1143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None/>
            </a:pPr>
            <a:endParaRPr lang="fr-FR" dirty="0"/>
          </a:p>
          <a:p>
            <a:pPr marL="1143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None/>
            </a:pPr>
            <a:r>
              <a:rPr lang="fr-FR" dirty="0"/>
              <a:t>4. </a:t>
            </a:r>
            <a:r>
              <a:rPr lang="fr-FR" u="sng" dirty="0"/>
              <a:t>Mise en forme des analyses</a:t>
            </a:r>
          </a:p>
          <a:p>
            <a:pPr marL="1143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None/>
            </a:pPr>
            <a:r>
              <a:rPr lang="fr-FR" dirty="0"/>
              <a:t>				Représenter les indicateurs sous forme de graphique</a:t>
            </a:r>
          </a:p>
          <a:p>
            <a:pPr marL="5715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+mj-lt"/>
              <a:buAutoNum type="arabicPeriod"/>
            </a:pPr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>
            <a:extLst>
              <a:ext uri="{FF2B5EF4-FFF2-40B4-BE49-F238E27FC236}">
                <a16:creationId xmlns:a16="http://schemas.microsoft.com/office/drawing/2014/main" id="{FFDAE0A5-0D14-6537-3286-D5232ECE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432" y="1237712"/>
            <a:ext cx="6423504" cy="4623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5" name="Google Shape;145;p4"/>
          <p:cNvSpPr txBox="1">
            <a:spLocks/>
          </p:cNvSpPr>
          <p:nvPr/>
        </p:nvSpPr>
        <p:spPr>
          <a:xfrm>
            <a:off x="1097280" y="286603"/>
            <a:ext cx="10058400" cy="710347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b="1" u="sng" dirty="0"/>
              <a:t>Proportion de personnes en état de sous-nutrition en 2017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FB7782-9BF9-DEF5-EDD8-DF095B19082A}"/>
              </a:ext>
            </a:extLst>
          </p:cNvPr>
          <p:cNvSpPr txBox="1">
            <a:spLocks/>
          </p:cNvSpPr>
          <p:nvPr/>
        </p:nvSpPr>
        <p:spPr>
          <a:xfrm>
            <a:off x="0" y="1785896"/>
            <a:ext cx="10937640" cy="3638763"/>
          </a:xfrm>
          <a:prstGeom prst="rect">
            <a:avLst/>
          </a:prstGeom>
        </p:spPr>
        <p:txBody>
          <a:bodyPr anchor="t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Font typeface="Calibri" panose="020F0502020204030204" pitchFamily="34" charset="0"/>
              <a:buNone/>
            </a:pPr>
            <a:r>
              <a:rPr lang="fr-FR" dirty="0"/>
              <a:t>Personnes en sous-nutrition dans le monde en 2017 :</a:t>
            </a:r>
          </a:p>
          <a:p>
            <a:pPr marL="114300" indent="0">
              <a:buFont typeface="Calibri" panose="020F0502020204030204" pitchFamily="34" charset="0"/>
              <a:buNone/>
            </a:pPr>
            <a:endParaRPr lang="fr-FR" b="1" dirty="0"/>
          </a:p>
          <a:p>
            <a:pPr marL="114300" indent="0">
              <a:buFont typeface="Calibri" panose="020F0502020204030204" pitchFamily="34" charset="0"/>
              <a:buNone/>
            </a:pPr>
            <a:r>
              <a:rPr lang="fr-FR" b="1" dirty="0"/>
              <a:t>				535 millions</a:t>
            </a:r>
          </a:p>
          <a:p>
            <a:pPr marL="114300" indent="0">
              <a:buFont typeface="Calibri" panose="020F0502020204030204" pitchFamily="34" charset="0"/>
              <a:buNone/>
            </a:pPr>
            <a:endParaRPr lang="fr-FR" dirty="0"/>
          </a:p>
          <a:p>
            <a:pPr marL="114300" indent="0">
              <a:buFont typeface="Calibri" panose="020F0502020204030204" pitchFamily="34" charset="0"/>
              <a:buNone/>
            </a:pPr>
            <a:r>
              <a:rPr lang="fr-FR" dirty="0"/>
              <a:t>Population totale dans le monde en 2017 :</a:t>
            </a:r>
          </a:p>
          <a:p>
            <a:pPr marL="114300" indent="0">
              <a:buFont typeface="Calibri" panose="020F0502020204030204" pitchFamily="34" charset="0"/>
              <a:buNone/>
            </a:pPr>
            <a:endParaRPr lang="fr-FR" b="1" dirty="0"/>
          </a:p>
          <a:p>
            <a:pPr marL="114300" indent="0">
              <a:buFont typeface="Calibri" panose="020F0502020204030204" pitchFamily="34" charset="0"/>
              <a:buNone/>
            </a:pPr>
            <a:r>
              <a:rPr lang="fr-FR" b="1" dirty="0"/>
              <a:t>				7,5 milliards</a:t>
            </a:r>
            <a:endParaRPr lang="fr-FR" dirty="0"/>
          </a:p>
          <a:p>
            <a:pPr marL="114300" indent="0">
              <a:buFont typeface="Calibri" panose="020F0502020204030204" pitchFamily="34" charset="0"/>
              <a:buNone/>
            </a:pPr>
            <a:endParaRPr lang="fr-FR" dirty="0"/>
          </a:p>
          <a:p>
            <a:pPr marL="114300" indent="0">
              <a:buFont typeface="Calibri" panose="020F0502020204030204" pitchFamily="34" charset="0"/>
              <a:buNone/>
            </a:pPr>
            <a:r>
              <a:rPr lang="fr-FR" b="1" dirty="0"/>
              <a:t>7.10 % </a:t>
            </a:r>
            <a:r>
              <a:rPr lang="fr-FR" dirty="0"/>
              <a:t>de la population mondiale sont en état de sous-nutrition en 2017</a:t>
            </a:r>
          </a:p>
        </p:txBody>
      </p:sp>
    </p:spTree>
    <p:extLst>
      <p:ext uri="{BB962C8B-B14F-4D97-AF65-F5344CB8AC3E}">
        <p14:creationId xmlns:p14="http://schemas.microsoft.com/office/powerpoint/2010/main" val="205619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FEFEFE"/>
              </a:buClr>
              <a:buSzPts val="4000"/>
              <a:buFont typeface="Century Gothic"/>
            </a:pPr>
            <a:r>
              <a:rPr lang="fr-FR" sz="3200" b="1" dirty="0"/>
              <a:t>Nombre théorique de personnes qui pourraient être nourries en 2017</a:t>
            </a:r>
            <a:endParaRPr sz="3200" b="1" dirty="0"/>
          </a:p>
        </p:txBody>
      </p:sp>
      <p:sp>
        <p:nvSpPr>
          <p:cNvPr id="153" name="Google Shape;153;p5"/>
          <p:cNvSpPr txBox="1">
            <a:spLocks noGrp="1"/>
          </p:cNvSpPr>
          <p:nvPr>
            <p:ph idx="1"/>
          </p:nvPr>
        </p:nvSpPr>
        <p:spPr>
          <a:xfrm>
            <a:off x="1097280" y="2620986"/>
            <a:ext cx="10058400" cy="2699762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Hypothèse : une personne consomme en moyenne 2500 kcal/jour</a:t>
            </a:r>
          </a:p>
          <a:p>
            <a:pPr marL="0" lvl="0" indent="0">
              <a:spcBef>
                <a:spcPts val="0"/>
              </a:spcBef>
              <a:buNone/>
            </a:pPr>
            <a:endParaRPr lang="fr-FR" dirty="0"/>
          </a:p>
          <a:p>
            <a:pPr marL="0" lvl="0" indent="0">
              <a:spcBef>
                <a:spcPts val="0"/>
              </a:spcBef>
              <a:buNone/>
            </a:pPr>
            <a:endParaRPr lang="fr-FR" b="1" dirty="0"/>
          </a:p>
          <a:p>
            <a:pPr marL="0" lvl="0" indent="0">
              <a:spcBef>
                <a:spcPts val="0"/>
              </a:spcBef>
              <a:buNone/>
            </a:pPr>
            <a:r>
              <a:rPr lang="fr-FR" b="1" dirty="0"/>
              <a:t>Nombre d'humains pouvant être nourris : 8.37 milliards (&gt; 7,54 milliards)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FEFEFE"/>
              </a:buClr>
              <a:buSzPts val="4000"/>
              <a:buFont typeface="Century Gothic"/>
            </a:pPr>
            <a:r>
              <a:rPr lang="fr-FR" sz="3200" b="1" dirty="0"/>
              <a:t>Nombre théorique de personnes qui pourraient être nourries uniquement avec les végétaux en 2017</a:t>
            </a:r>
            <a:endParaRPr sz="3200" b="1" dirty="0"/>
          </a:p>
        </p:txBody>
      </p:sp>
      <p:sp>
        <p:nvSpPr>
          <p:cNvPr id="160" name="Google Shape;160;p6"/>
          <p:cNvSpPr txBox="1">
            <a:spLocks noGrp="1"/>
          </p:cNvSpPr>
          <p:nvPr>
            <p:ph idx="1"/>
          </p:nvPr>
        </p:nvSpPr>
        <p:spPr>
          <a:xfrm>
            <a:off x="1097280" y="2620987"/>
            <a:ext cx="10935694" cy="2997936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Hypothèse : une personne consomme en moyenne 2500 kcal/jour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b="1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1600" b="1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b="1" dirty="0"/>
              <a:t>Nombre d'humains pouvant être nourris avec les produits végétaux : 6.90 milliards (&lt; 7,54 milliards)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>
            <a:extLst>
              <a:ext uri="{FF2B5EF4-FFF2-40B4-BE49-F238E27FC236}">
                <a16:creationId xmlns:a16="http://schemas.microsoft.com/office/drawing/2014/main" id="{8EE9C405-DCE8-5B32-450F-C98C93624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425" y="173324"/>
            <a:ext cx="7837047" cy="6136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66;p7"/>
          <p:cNvSpPr txBox="1">
            <a:spLocks/>
          </p:cNvSpPr>
          <p:nvPr/>
        </p:nvSpPr>
        <p:spPr>
          <a:xfrm>
            <a:off x="149749" y="319885"/>
            <a:ext cx="10058400" cy="303119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b="1" u="sng" dirty="0"/>
              <a:t>Répartition de la disponibilité intérieure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F090F41-F5D0-3141-C03A-B2CBDDA3ACAD}"/>
              </a:ext>
            </a:extLst>
          </p:cNvPr>
          <p:cNvSpPr txBox="1"/>
          <p:nvPr/>
        </p:nvSpPr>
        <p:spPr>
          <a:xfrm>
            <a:off x="282271" y="1885266"/>
            <a:ext cx="5192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Utilisations (en millions de tonnes)</a:t>
            </a:r>
            <a:endParaRPr lang="fr-FR" b="1" dirty="0"/>
          </a:p>
          <a:p>
            <a:pPr>
              <a:buNone/>
            </a:pPr>
            <a:endParaRPr lang="fr-FR" b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C1546E6-F19E-00FE-A9FF-19A36B74B426}"/>
              </a:ext>
            </a:extLst>
          </p:cNvPr>
          <p:cNvSpPr txBox="1"/>
          <p:nvPr/>
        </p:nvSpPr>
        <p:spPr>
          <a:xfrm>
            <a:off x="282271" y="2261441"/>
            <a:ext cx="3567486" cy="3693319"/>
          </a:xfrm>
          <a:prstGeom prst="rect">
            <a:avLst/>
          </a:prstGeom>
          <a:solidFill>
            <a:srgbClr val="406B2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rgbClr val="BEBADA"/>
                </a:solidFill>
              </a:rPr>
              <a:t>	</a:t>
            </a:r>
          </a:p>
          <a:p>
            <a:pPr>
              <a:buNone/>
            </a:pPr>
            <a:r>
              <a:rPr lang="fr-FR" b="1" dirty="0">
                <a:solidFill>
                  <a:srgbClr val="BEBADA"/>
                </a:solidFill>
              </a:rPr>
              <a:t>	Nourriture 	: 	4 876</a:t>
            </a:r>
          </a:p>
          <a:p>
            <a:pPr>
              <a:buNone/>
            </a:pPr>
            <a:endParaRPr lang="fr-FR" b="1" dirty="0"/>
          </a:p>
          <a:p>
            <a:r>
              <a:rPr lang="fr-FR" b="1" dirty="0">
                <a:solidFill>
                  <a:srgbClr val="80B1D3"/>
                </a:solidFill>
              </a:rPr>
              <a:t>	Traitement 	: 	2 205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>
                <a:solidFill>
                  <a:srgbClr val="FB8072"/>
                </a:solidFill>
              </a:rPr>
              <a:t>	Animaux		: 	1 304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>
                <a:solidFill>
                  <a:srgbClr val="FDB462"/>
                </a:solidFill>
              </a:rPr>
              <a:t>	Autres 		: 	865</a:t>
            </a:r>
          </a:p>
          <a:p>
            <a:endParaRPr lang="fr-FR" b="1" dirty="0"/>
          </a:p>
          <a:p>
            <a:r>
              <a:rPr lang="fr-FR" b="1" dirty="0">
                <a:solidFill>
                  <a:srgbClr val="FFFFB3"/>
                </a:solidFill>
              </a:rPr>
              <a:t>	Pertes		: 	453</a:t>
            </a:r>
          </a:p>
          <a:p>
            <a:endParaRPr lang="fr-FR" b="1" dirty="0"/>
          </a:p>
          <a:p>
            <a:r>
              <a:rPr lang="fr-FR" b="1" dirty="0">
                <a:solidFill>
                  <a:srgbClr val="E7E3EA"/>
                </a:solidFill>
              </a:rPr>
              <a:t>	Semences	: 	154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4;p8"/>
          <p:cNvSpPr txBox="1">
            <a:spLocks/>
          </p:cNvSpPr>
          <p:nvPr/>
        </p:nvSpPr>
        <p:spPr>
          <a:xfrm>
            <a:off x="316374" y="170857"/>
            <a:ext cx="11096264" cy="923330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FEFEFE"/>
              </a:buClr>
              <a:buSzPts val="4000"/>
            </a:pPr>
            <a:r>
              <a:rPr lang="fr-FR" sz="3200" b="1" u="sng" dirty="0"/>
              <a:t>Part de l’utilisation des principales céréales entre l’alimentation humaine et animale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DE8154F-30FE-F372-1F6F-53D1FE794E53}"/>
              </a:ext>
            </a:extLst>
          </p:cNvPr>
          <p:cNvSpPr txBox="1"/>
          <p:nvPr/>
        </p:nvSpPr>
        <p:spPr>
          <a:xfrm>
            <a:off x="474561" y="2344253"/>
            <a:ext cx="2650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b="1" dirty="0"/>
              <a:t>1/3 de la production de céréales est utilisé pour l’alimentation animal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5DA183DE-079E-6311-FE69-3EC8B909A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056" y="821803"/>
            <a:ext cx="7691914" cy="550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4;p8">
            <a:extLst>
              <a:ext uri="{FF2B5EF4-FFF2-40B4-BE49-F238E27FC236}">
                <a16:creationId xmlns:a16="http://schemas.microsoft.com/office/drawing/2014/main" id="{CD7ABEEA-83C4-8D52-F5C9-94B7031B50DA}"/>
              </a:ext>
            </a:extLst>
          </p:cNvPr>
          <p:cNvSpPr txBox="1">
            <a:spLocks/>
          </p:cNvSpPr>
          <p:nvPr/>
        </p:nvSpPr>
        <p:spPr>
          <a:xfrm>
            <a:off x="316374" y="170857"/>
            <a:ext cx="11096264" cy="923330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FEFEFE"/>
              </a:buClr>
              <a:buSzPts val="4000"/>
            </a:pPr>
            <a:r>
              <a:rPr lang="fr-FR" sz="3200" b="1" u="sng" dirty="0"/>
              <a:t>Répartition de l'utilisation des céréales par type de céréales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3312743-B762-40BB-AB5B-E85D4436CE74}"/>
              </a:ext>
            </a:extLst>
          </p:cNvPr>
          <p:cNvSpPr txBox="1"/>
          <p:nvPr/>
        </p:nvSpPr>
        <p:spPr>
          <a:xfrm>
            <a:off x="316374" y="1192193"/>
            <a:ext cx="2870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Chaque céréale est utilisée de façon très différentes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1BD8290-5498-FA26-41E6-20E92F2FB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254" y="766838"/>
            <a:ext cx="8348637" cy="5568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926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93E04B68-F512-BFA9-A110-E16173602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1" y="7189233"/>
            <a:ext cx="8935343" cy="4281000"/>
          </a:xfrm>
          <a:prstGeom prst="rect">
            <a:avLst/>
          </a:prstGeom>
        </p:spPr>
      </p:pic>
      <p:sp>
        <p:nvSpPr>
          <p:cNvPr id="17" name="Google Shape;181;p9"/>
          <p:cNvSpPr txBox="1">
            <a:spLocks/>
          </p:cNvSpPr>
          <p:nvPr/>
        </p:nvSpPr>
        <p:spPr>
          <a:xfrm>
            <a:off x="1097280" y="286603"/>
            <a:ext cx="9883987" cy="780197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b="1" u="sng" dirty="0"/>
              <a:t>Liste des 10 pays où la proportion de personnes en état de sous-nutrition est la plus forte en 2017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3ECD77D6-207D-BF43-853A-FD81891CB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920" y="1138989"/>
            <a:ext cx="9604842" cy="5115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AC4EA2E-4543-6B5F-23AA-89E1A01D0961}"/>
              </a:ext>
            </a:extLst>
          </p:cNvPr>
          <p:cNvSpPr txBox="1"/>
          <p:nvPr/>
        </p:nvSpPr>
        <p:spPr>
          <a:xfrm>
            <a:off x="433137" y="2603216"/>
            <a:ext cx="2622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Dans certains pays ont la quantité de personnes en état de sous-nutrition est très importante.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F3B3229-1942-1513-6D69-C48371C0BEBB}"/>
              </a:ext>
            </a:extLst>
          </p:cNvPr>
          <p:cNvSpPr txBox="1"/>
          <p:nvPr/>
        </p:nvSpPr>
        <p:spPr>
          <a:xfrm>
            <a:off x="433137" y="4111394"/>
            <a:ext cx="29684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Par exemple, en Haïti, près de 1 personne sur 2 est en état de sous-nutrition en 2017.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75316A8C-E284-EDD6-3E9C-305F44132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727" y="547445"/>
            <a:ext cx="8674015" cy="576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E2ADC2D-DDB6-C74C-5631-22ABD49DA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0" y="7435832"/>
            <a:ext cx="3702719" cy="4103234"/>
          </a:xfrm>
          <a:prstGeom prst="rect">
            <a:avLst/>
          </a:prstGeom>
        </p:spPr>
      </p:pic>
      <p:sp>
        <p:nvSpPr>
          <p:cNvPr id="7" name="Google Shape;188;p10"/>
          <p:cNvSpPr txBox="1">
            <a:spLocks/>
          </p:cNvSpPr>
          <p:nvPr/>
        </p:nvSpPr>
        <p:spPr>
          <a:xfrm>
            <a:off x="237009" y="331910"/>
            <a:ext cx="11717982" cy="381632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2800" b="1" u="sng" dirty="0"/>
              <a:t>Liste des 10 pays qui ont le plus bénéficié de l’aide alimentaire entre 2013 et 2016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5;g2233f607d43_0_0"/>
          <p:cNvSpPr txBox="1">
            <a:spLocks/>
          </p:cNvSpPr>
          <p:nvPr/>
        </p:nvSpPr>
        <p:spPr>
          <a:xfrm>
            <a:off x="1097279" y="286604"/>
            <a:ext cx="10578253" cy="788664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b="1" u="sng" dirty="0"/>
              <a:t>Évolution de l’aide alimentaire pour les 5 pays qui en ont le plus bénéficié entre 2013 et 2016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CE13811B-A77B-E959-77B8-9CAAE491C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8" y="1189432"/>
            <a:ext cx="11865390" cy="508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2">
            <a:extLst>
              <a:ext uri="{FF2B5EF4-FFF2-40B4-BE49-F238E27FC236}">
                <a16:creationId xmlns:a16="http://schemas.microsoft.com/office/drawing/2014/main" id="{862CB890-00F8-4063-EDB1-8703FBDF8F0A}"/>
              </a:ext>
            </a:extLst>
          </p:cNvPr>
          <p:cNvSpPr txBox="1"/>
          <p:nvPr/>
        </p:nvSpPr>
        <p:spPr>
          <a:xfrm>
            <a:off x="9139876" y="2983423"/>
            <a:ext cx="303833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fr-FR" sz="1300" u="sng" dirty="0">
                <a:solidFill>
                  <a:schemeClr val="tx1"/>
                </a:solidFill>
              </a:rPr>
              <a:t>Un contexte géopolitique complexe: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endParaRPr lang="fr-FR" sz="1300" dirty="0">
              <a:solidFill>
                <a:schemeClr val="tx1"/>
              </a:solidFill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fr-FR" sz="1300" b="1" dirty="0">
                <a:solidFill>
                  <a:srgbClr val="1E77B4"/>
                </a:solidFill>
              </a:rPr>
              <a:t>Syrie</a:t>
            </a:r>
            <a:r>
              <a:rPr lang="fr-FR" sz="1300" dirty="0">
                <a:solidFill>
                  <a:schemeClr val="tx1"/>
                </a:solidFill>
              </a:rPr>
              <a:t> : Guerre civile, effondrement agricole 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endParaRPr lang="fr-FR" sz="1300" dirty="0">
              <a:solidFill>
                <a:schemeClr val="tx1"/>
              </a:solidFill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fr-FR" sz="1300" b="1" dirty="0">
                <a:solidFill>
                  <a:srgbClr val="FF7F0D"/>
                </a:solidFill>
              </a:rPr>
              <a:t>Soudan</a:t>
            </a:r>
            <a:r>
              <a:rPr lang="fr-FR" sz="1300" dirty="0">
                <a:solidFill>
                  <a:schemeClr val="tx1"/>
                </a:solidFill>
              </a:rPr>
              <a:t> : Instabilité politique, conflits régionaux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endParaRPr lang="fr-FR" sz="1300" dirty="0">
              <a:solidFill>
                <a:schemeClr val="tx1"/>
              </a:solidFill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fr-FR" sz="1300" b="1" dirty="0">
                <a:solidFill>
                  <a:srgbClr val="40A840"/>
                </a:solidFill>
              </a:rPr>
              <a:t>Soudan du Sud </a:t>
            </a:r>
            <a:r>
              <a:rPr lang="fr-FR" sz="1300" dirty="0">
                <a:solidFill>
                  <a:schemeClr val="tx1"/>
                </a:solidFill>
              </a:rPr>
              <a:t>: Guerre civile, insécurité alimentaire 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endParaRPr lang="fr-FR" sz="1300" dirty="0">
              <a:solidFill>
                <a:schemeClr val="tx1"/>
              </a:solidFill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fr-FR" sz="1300" b="1" dirty="0">
                <a:solidFill>
                  <a:srgbClr val="D62728"/>
                </a:solidFill>
              </a:rPr>
              <a:t> Yémen </a:t>
            </a:r>
            <a:r>
              <a:rPr lang="fr-FR" sz="1300" dirty="0">
                <a:solidFill>
                  <a:schemeClr val="tx1"/>
                </a:solidFill>
              </a:rPr>
              <a:t>: Guerre, blocus, crise humanitaire 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endParaRPr lang="fr-FR" sz="1300" dirty="0">
              <a:solidFill>
                <a:schemeClr val="tx1"/>
              </a:solidFill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fr-FR" sz="1300" b="1" dirty="0">
                <a:solidFill>
                  <a:srgbClr val="9467BD"/>
                </a:solidFill>
              </a:rPr>
              <a:t> Éthiopie </a:t>
            </a:r>
            <a:r>
              <a:rPr lang="fr-FR" sz="1300" dirty="0">
                <a:solidFill>
                  <a:schemeClr val="tx1"/>
                </a:solidFill>
              </a:rPr>
              <a:t>: Sécheresse, tensions internes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6A2648-041B-31A9-96B6-333DDB912885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F7C203F9-172F-FED0-A991-8F14708CB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35" y="599933"/>
            <a:ext cx="10472467" cy="6258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202;p11"/>
          <p:cNvSpPr txBox="1">
            <a:spLocks/>
          </p:cNvSpPr>
          <p:nvPr/>
        </p:nvSpPr>
        <p:spPr>
          <a:xfrm>
            <a:off x="243840" y="0"/>
            <a:ext cx="11704320" cy="619760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b="1" u="sng" dirty="0"/>
              <a:t>Liste des 10 pays qui ont la plus forte disponibilité alimentaire par habitant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17973F2-DB03-9CF5-CAA2-F5A8FFA0DC20}"/>
              </a:ext>
            </a:extLst>
          </p:cNvPr>
          <p:cNvSpPr txBox="1"/>
          <p:nvPr/>
        </p:nvSpPr>
        <p:spPr>
          <a:xfrm>
            <a:off x="243840" y="1219693"/>
            <a:ext cx="2777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b="1" dirty="0"/>
              <a:t>La plupart des 10 pays avec la plus forte disponibilité alimentaire font partie des "pays du nord"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4E631C-3EE5-11AB-C208-443A1E81D930}"/>
              </a:ext>
            </a:extLst>
          </p:cNvPr>
          <p:cNvSpPr/>
          <p:nvPr/>
        </p:nvSpPr>
        <p:spPr>
          <a:xfrm>
            <a:off x="0" y="5387598"/>
            <a:ext cx="12192000" cy="14704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19C6B64-DFED-D8FB-D5E3-A58A0869D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682" y="731738"/>
            <a:ext cx="10091276" cy="603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209;p12"/>
          <p:cNvSpPr txBox="1">
            <a:spLocks/>
          </p:cNvSpPr>
          <p:nvPr/>
        </p:nvSpPr>
        <p:spPr>
          <a:xfrm>
            <a:off x="218707" y="-39992"/>
            <a:ext cx="11836400" cy="771730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b="1" u="sng" dirty="0"/>
              <a:t>Liste des 10 pays qui ont la plus faible disponibilité alimentaire par habitant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32E0DB8-0344-79B8-780C-A1678C4FB640}"/>
              </a:ext>
            </a:extLst>
          </p:cNvPr>
          <p:cNvSpPr txBox="1"/>
          <p:nvPr/>
        </p:nvSpPr>
        <p:spPr>
          <a:xfrm>
            <a:off x="218707" y="1128303"/>
            <a:ext cx="25360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La quasi-totalité des 10 pays avec la disponibilité alimentaire par habitant la plus faible se trouvent en Afrique.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16;p13"/>
          <p:cNvSpPr txBox="1">
            <a:spLocks/>
          </p:cNvSpPr>
          <p:nvPr/>
        </p:nvSpPr>
        <p:spPr>
          <a:xfrm>
            <a:off x="1097280" y="286604"/>
            <a:ext cx="10058400" cy="382121"/>
          </a:xfrm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b="1" u="sng" dirty="0"/>
              <a:t>Étude sur le manioc en Thaïlande</a:t>
            </a: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EA2B83F4-38CE-59C7-FC75-D8878A5F7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7" y="1161732"/>
            <a:ext cx="5919066" cy="412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93A0400-4101-23B5-F35B-047455E45DC1}"/>
              </a:ext>
            </a:extLst>
          </p:cNvPr>
          <p:cNvSpPr txBox="1"/>
          <p:nvPr/>
        </p:nvSpPr>
        <p:spPr>
          <a:xfrm>
            <a:off x="-26266" y="5284571"/>
            <a:ext cx="60545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Population de la Thaïlande (2017) : 69 209 810</a:t>
            </a:r>
          </a:p>
          <a:p>
            <a:endParaRPr lang="fr-FR" sz="1600" dirty="0"/>
          </a:p>
          <a:p>
            <a:r>
              <a:rPr lang="fr-FR" sz="1600" dirty="0"/>
              <a:t>Hypothèse : une personne consomme en moyenne 2500 kcal/jour</a:t>
            </a:r>
          </a:p>
          <a:p>
            <a:r>
              <a:rPr lang="fr-FR" sz="1600" dirty="0"/>
              <a:t>Population de la Thaïlande en état de sous-nutrition (2017) : 6 200 000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187494F-EE66-6644-B27A-4E8FF50F168A}"/>
              </a:ext>
            </a:extLst>
          </p:cNvPr>
          <p:cNvSpPr txBox="1"/>
          <p:nvPr/>
        </p:nvSpPr>
        <p:spPr>
          <a:xfrm>
            <a:off x="6195930" y="5731690"/>
            <a:ext cx="59190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La proportion de manioc exportée de Thaïlande correspond à </a:t>
            </a:r>
            <a:r>
              <a:rPr lang="fr-FR" sz="1600" b="1" dirty="0"/>
              <a:t>83.4% de sa production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4DA253AA-F889-2B86-0F34-F08388F07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533" y="1161732"/>
            <a:ext cx="6034275" cy="4243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Rectangle 2072">
            <a:extLst>
              <a:ext uri="{FF2B5EF4-FFF2-40B4-BE49-F238E27FC236}">
                <a16:creationId xmlns:a16="http://schemas.microsoft.com/office/drawing/2014/main" id="{80BA5665-9598-4383-8F19-52182CBB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5" name="Rectangle 2074">
            <a:extLst>
              <a:ext uri="{FF2B5EF4-FFF2-40B4-BE49-F238E27FC236}">
                <a16:creationId xmlns:a16="http://schemas.microsoft.com/office/drawing/2014/main" id="{B4C777A6-9696-47DF-BA90-40895EFCE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7" name="Rectangle 2076">
            <a:extLst>
              <a:ext uri="{FF2B5EF4-FFF2-40B4-BE49-F238E27FC236}">
                <a16:creationId xmlns:a16="http://schemas.microsoft.com/office/drawing/2014/main" id="{5C05B094-D180-41FA-B209-8388E9F7D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37E6904-A8DB-DC0D-90DE-91E9A97F8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1911" y="989633"/>
            <a:ext cx="5832984" cy="406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7326EEB-4833-B305-3F16-3302AE61B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15412" y="989633"/>
            <a:ext cx="5832984" cy="406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8366612-1018-6042-5833-19BC3CD3AC2F}"/>
              </a:ext>
            </a:extLst>
          </p:cNvPr>
          <p:cNvSpPr txBox="1"/>
          <p:nvPr/>
        </p:nvSpPr>
        <p:spPr>
          <a:xfrm>
            <a:off x="771645" y="5248771"/>
            <a:ext cx="10648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Le Manioc produit en Thaïlande est pour la grande majorité exporté, on observe aussi que la proportion utilisée comme nourriture dans le pays est très faible.</a:t>
            </a:r>
          </a:p>
        </p:txBody>
      </p:sp>
    </p:spTree>
    <p:extLst>
      <p:ext uri="{BB962C8B-B14F-4D97-AF65-F5344CB8AC3E}">
        <p14:creationId xmlns:p14="http://schemas.microsoft.com/office/powerpoint/2010/main" val="4268338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7794330-4309-3A22-85D4-C5F132A3F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8877" y="521208"/>
            <a:ext cx="8654246" cy="5149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DF8D3E7-C5F0-639E-A9C9-4F4FA8C5E1F4}"/>
              </a:ext>
            </a:extLst>
          </p:cNvPr>
          <p:cNvSpPr txBox="1"/>
          <p:nvPr/>
        </p:nvSpPr>
        <p:spPr>
          <a:xfrm>
            <a:off x="4265343" y="785969"/>
            <a:ext cx="3661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Population de la Thaïlande (2017) : 69 209 810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CAC24BB-5D59-24E2-8B5B-CF27DCFB5680}"/>
              </a:ext>
            </a:extLst>
          </p:cNvPr>
          <p:cNvSpPr txBox="1"/>
          <p:nvPr/>
        </p:nvSpPr>
        <p:spPr>
          <a:xfrm>
            <a:off x="522732" y="5819907"/>
            <a:ext cx="11146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/>
              <a:t>Le potentiel alimentaire du manioc produit en Thaïlande est capable de couvrir les besoins caloriques de dizaines de millions de personnes.</a:t>
            </a:r>
          </a:p>
        </p:txBody>
      </p:sp>
    </p:spTree>
    <p:extLst>
      <p:ext uri="{BB962C8B-B14F-4D97-AF65-F5344CB8AC3E}">
        <p14:creationId xmlns:p14="http://schemas.microsoft.com/office/powerpoint/2010/main" val="1854956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sx="1000" sy="1000">
              <a:srgbClr val="000000"/>
            </a:outerShdw>
          </a:effectLst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FEFEFE"/>
              </a:buClr>
              <a:buSzPts val="4000"/>
              <a:buFont typeface="Century Gothic"/>
            </a:pPr>
            <a:r>
              <a:rPr lang="fr-FR" sz="3300" b="1" dirty="0"/>
              <a:t>Conclusion</a:t>
            </a:r>
            <a:endParaRPr sz="3300" b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FB42060-FABB-C897-64FE-28871CE59254}"/>
              </a:ext>
            </a:extLst>
          </p:cNvPr>
          <p:cNvSpPr txBox="1"/>
          <p:nvPr/>
        </p:nvSpPr>
        <p:spPr>
          <a:xfrm>
            <a:off x="1800726" y="3958390"/>
            <a:ext cx="85905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/>
              <a:t>La production alimentaire mondiale est suffisante</a:t>
            </a:r>
          </a:p>
          <a:p>
            <a:pPr algn="ctr"/>
            <a:r>
              <a:rPr lang="fr-FR" sz="3000" dirty="0"/>
              <a:t>L’accès inégal aux ressources cause la faim</a:t>
            </a:r>
          </a:p>
          <a:p>
            <a:pPr algn="ctr"/>
            <a:r>
              <a:rPr lang="fr-FR" sz="3000" dirty="0"/>
              <a:t>L’aide alimentaire ne fait que temporiser</a:t>
            </a:r>
          </a:p>
          <a:p>
            <a:pPr algn="ctr"/>
            <a:r>
              <a:rPr lang="fr-FR" sz="3000" dirty="0"/>
              <a:t>Des réformes structurelles sont nécessaires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E3F6F4B-77CB-EEB6-9AB6-C02C2FBDF228}"/>
              </a:ext>
            </a:extLst>
          </p:cNvPr>
          <p:cNvSpPr txBox="1"/>
          <p:nvPr/>
        </p:nvSpPr>
        <p:spPr>
          <a:xfrm>
            <a:off x="1519989" y="2263099"/>
            <a:ext cx="85905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500" b="1" dirty="0"/>
              <a:t>La sous-nutrition est un problème de répartition des richesses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2179</TotalTime>
  <Words>687</Words>
  <Application>Microsoft Office PowerPoint</Application>
  <PresentationFormat>Grand écran</PresentationFormat>
  <Paragraphs>100</Paragraphs>
  <Slides>18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Calibri Light</vt:lpstr>
      <vt:lpstr>Century Gothic</vt:lpstr>
      <vt:lpstr>Arial</vt:lpstr>
      <vt:lpstr>Calibri</vt:lpstr>
      <vt:lpstr>Abadi</vt:lpstr>
      <vt:lpstr>Rétrospective</vt:lpstr>
      <vt:lpstr>Étude sur l’alimentation dans le monde</vt:lpstr>
      <vt:lpstr>Contexte et spécification des données</vt:lpstr>
      <vt:lpstr>Méthodologie de l’analyse</vt:lpstr>
      <vt:lpstr>Présentation PowerPoint</vt:lpstr>
      <vt:lpstr>Nombre théorique de personnes qui pourraient être nourries en 2017</vt:lpstr>
      <vt:lpstr>Nombre théorique de personnes qui pourraient être nourries uniquement avec les végétaux en 2017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Arnaud Meloen</cp:lastModifiedBy>
  <cp:revision>12</cp:revision>
  <dcterms:created xsi:type="dcterms:W3CDTF">2023-03-17T20:58:30Z</dcterms:created>
  <dcterms:modified xsi:type="dcterms:W3CDTF">2026-02-18T22:27:42Z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